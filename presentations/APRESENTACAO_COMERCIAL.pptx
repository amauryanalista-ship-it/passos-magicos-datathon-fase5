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Transformando Dados em Oportunidades Educacionais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F5F5"/>
                </a:solidFill>
              </a:defRPr>
            </a:pPr>
            <a:r>
              <a:t>Análise Preditiva de Indicadores Educacionais</a:t>
            </a:r>
          </a:p>
          <a:p>
            <a:pPr algn="ctr">
              <a:defRPr sz="2800">
                <a:solidFill>
                  <a:srgbClr val="F5F5F5"/>
                </a:solidFill>
              </a:defRPr>
            </a:pPr>
            <a:r>
              <a:t>Datathon Passos Mágicos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O Desafio: Identificar Alunos em Risco de Defasagem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1.349 alunos acompanhados ao longo de 3 anos (2020-2022)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7 indicadores educacionais multidimensionais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69 variáveis analisadas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Pergunta central: Como usar dados para intervenções proativas?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Oportunidade: Transformar dados em sistema de alerta precoce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Abordagem Analítica Rigorosa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53E3E"/>
                </a:solidFill>
              </a:defRPr>
            </a:pPr>
            <a:r>
              <a:t>Análise</a:t>
            </a:r>
            <a:br/>
            <a:r>
              <a:t>Exploratória</a:t>
            </a:r>
          </a:p>
          <a:p>
            <a:pPr algn="ctr">
              <a:spcBef>
                <a:spcPts val="500"/>
              </a:spcBef>
              <a:defRPr sz="1000">
                <a:solidFill>
                  <a:srgbClr val="2D3748"/>
                </a:solidFill>
              </a:defRPr>
            </a:pPr>
            <a:r>
              <a:t>Estatísticas, correlações, distribuições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1371600"/>
            <a:ext cx="1645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53E3E"/>
                </a:solidFill>
              </a:defRPr>
            </a:pPr>
            <a:r>
              <a:t>Engenharia</a:t>
            </a:r>
            <a:br/>
            <a:r>
              <a:t>de Features</a:t>
            </a:r>
          </a:p>
          <a:p>
            <a:pPr algn="ctr">
              <a:spcBef>
                <a:spcPts val="500"/>
              </a:spcBef>
              <a:defRPr sz="1000">
                <a:solidFill>
                  <a:srgbClr val="2D3748"/>
                </a:solidFill>
              </a:defRPr>
            </a:pPr>
            <a:r>
              <a:t>12 indicadores + 4 features derivadas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371600"/>
            <a:ext cx="1645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53E3E"/>
                </a:solidFill>
              </a:defRPr>
            </a:pPr>
            <a:r>
              <a:t>Modelagem</a:t>
            </a:r>
            <a:br/>
            <a:r>
              <a:t>Preditiva</a:t>
            </a:r>
          </a:p>
          <a:p>
            <a:pPr algn="ctr">
              <a:spcBef>
                <a:spcPts val="500"/>
              </a:spcBef>
              <a:defRPr sz="1000">
                <a:solidFill>
                  <a:srgbClr val="2D3748"/>
                </a:solidFill>
              </a:defRPr>
            </a:pPr>
            <a:r>
              <a:t>Random Forest + Gradient Boosting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371600"/>
            <a:ext cx="1645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53E3E"/>
                </a:solidFill>
              </a:defRPr>
            </a:pPr>
            <a:r>
              <a:t>Validação</a:t>
            </a:r>
          </a:p>
          <a:p>
            <a:pPr algn="ctr">
              <a:spcBef>
                <a:spcPts val="500"/>
              </a:spcBef>
              <a:defRPr sz="1000">
                <a:solidFill>
                  <a:srgbClr val="2D3748"/>
                </a:solidFill>
              </a:defRPr>
            </a:pPr>
            <a:r>
              <a:t>Validação cruzada 5-fold, múltiplas métricas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1645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53E3E"/>
                </a:solidFill>
              </a:defRPr>
            </a:pPr>
            <a:r>
              <a:t>Implementação</a:t>
            </a:r>
          </a:p>
          <a:p>
            <a:pPr algn="ctr">
              <a:spcBef>
                <a:spcPts val="500"/>
              </a:spcBef>
              <a:defRPr sz="1000">
                <a:solidFill>
                  <a:srgbClr val="2D3748"/>
                </a:solidFill>
              </a:defRPr>
            </a:pPr>
            <a:r>
              <a:t>Aplicação Streamlit interativa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Adequação ao Nível (IAN)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Qual é o perfil geral de defasagem dos alunos?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IAN médio caiu de 7.43 (2020) para 6.42 (2022) - deterioração de 13.6%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Alunos adequados: 49% (2020) → 39% (2021) → 30% (2022)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Tendência preocupante: Redução consistente de adequação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70% dos alunos em 2022 estão abaixo do nível esperado</a:t>
            </a:r>
          </a:p>
        </p:txBody>
      </p:sp>
      <p:pic>
        <p:nvPicPr>
          <p:cNvPr id="7" name="Picture 6" descr="01_evolucao_defas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19499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Necessário ação urgente em intervenções preventivas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Desempenho Acadêmico (IDA)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O desempenho está melhorando, estagnado ou caindo?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IDA 2020: 6.32 (baseline)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IDA 2021: 5.43 (-14.1%) - QUEDA SIGNIFICATIVA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IDA 2022: 6.07 (+12.0%) - Recuperação parcial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Significância estatística: ANOVA F=26.05, p&lt;0.0001</a:t>
            </a:r>
          </a:p>
        </p:txBody>
      </p:sp>
      <p:pic>
        <p:nvPicPr>
          <p:cNvPr id="7" name="Picture 6" descr="02_desempenho_academ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1950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Desempenho é volátil e sensível a fatores externos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Engajamento (IEG)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O engajamento tem relação com desempenho?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IEG-IDA: r=0.565 (correlação forte)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IEG-IPV: r=0.520 (correlação forte)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IEG-INDE: r=0.800 (correlação MUITO FORTE)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Alunos com alto engajamento: 2.3x mais probabilidade de desempenho adequado</a:t>
            </a:r>
          </a:p>
        </p:txBody>
      </p:sp>
      <p:pic>
        <p:nvPicPr>
          <p:cNvPr id="7" name="Picture 6" descr="03_corre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31412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Engajamento é a alavanca principal para melhorar resultados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Autoavaliação (IAA)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As percepções dos alunos são coerentes com desempenho?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Desalinhamento médio: IAA - IDA = +2.31 pontos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Alunos superestimam desempenho em 36.6%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Correlação IAA-IDA: r=0.412 (moderada)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Maior desalinhamento em alunos com baixo desempenho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Trabalho em inteligência emocional é crítico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Aspectos Psicossociais (IPS)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Há padrões que antecedem quedas de desempenho?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IPS-IDA: r=0.245 (correlação fraca)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IPS não é preditor direto de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Mas é importante para bem-estar e retenção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Alunos com IPS baixo: 1.8x mais risco de abandono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Aspectos psicossociais são suporte, não driver principal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Aspectos Psicopedagógicos (IPP)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Confirmam ou contradizem a defasagem?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IPP-IAN: r=-0.312 (correlação fraca negativa)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IPP-IPV: r=0.595 (correlação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IPP é preditor de potencial de transformação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Alunos com IPP alto: 2.1x mais probabilidade de 'ponto de virada'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IPP identifica potencial de transformação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Ponto de Virada (IPV)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Quais comportamentos mais influenciam o IPV?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Influências principais: IPP (0.595), IEG (0.520), IDA (0.428)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IPV é resultado de múltiplos fatores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Alunos com IPV alto: trajetória de melhoria consistente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Mudança comportamental é possível com suporte adequado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Transformação é multidimensional e requer abordagem integrada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Multidimensionalidade (INDE)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Quais combinações de indicadores elevam mais o INDE?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INDE-IDA: r=0.811 (muito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INDE-IEG: r=0.800 (muito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Combinação ideal: IDA + IEG + IPP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Alunos com INDE alto: trajetória de sucesso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Visão multidimensional é essencial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Modelo Preditivo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Quais padrões permitem identificar alunos em risco?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Modelo Random Forest: 84% acurácia, 96% sensibilidade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ROC AUC: 0.809 (excelente discriminação)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Features principais: INDE (16.2%), IAN_2021 (11.8%), IDA (11.0%)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Pronto para implementação em produção</a:t>
            </a:r>
          </a:p>
        </p:txBody>
      </p:sp>
      <p:pic>
        <p:nvPicPr>
          <p:cNvPr id="7" name="Picture 6" descr="04_performance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19494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Sistema de alerta precoce viável e confiável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Efetividade do Programa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Há melhora consistente ao longo das fases?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Fase 0: IDA 7.13 (melhor desempenho)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Fase 7 (EM): IDA 4.86 (pior desempenho) - declínio de 32%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Transição ao EM é crítica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Programa tem efetividade variável por fase</a:t>
            </a:r>
          </a:p>
        </p:txBody>
      </p:sp>
      <p:pic>
        <p:nvPicPr>
          <p:cNvPr id="7" name="Picture 6" descr="07_evolucao_f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1951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Ensino Médio requer estratégias diferenciadas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Q11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E3E"/>
                </a:solidFill>
              </a:defRPr>
            </a:pPr>
            <a:r>
              <a:t>Insights Adicionais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299E1"/>
                </a:solidFill>
              </a:defRPr>
            </a:pPr>
            <a:r>
              <a:t>Pontos de vista não abordados?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Distribuição de Risco: 35% baixo, 28% moderado, 22% alto, 15% muito alto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Trajetória Importa: IAN anterior é 2º preditor (11.8%)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Efeito Cumulativo: Defasagem anterior aumenta risco futuro em 3.2x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• Potencial de Transformação: 42% dos alunos em risco podem melhorar</a:t>
            </a:r>
          </a:p>
        </p:txBody>
      </p:sp>
      <p:pic>
        <p:nvPicPr>
          <p:cNvPr id="7" name="Picture 6" descr="06_distribuicao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37319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A169"/>
                </a:solidFill>
              </a:defRPr>
            </a:pPr>
            <a:r>
              <a:t>💡 Histórico do aluno é tão importante quanto situação atual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5 Insights Críticos que Mudam o Jogo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731520"/>
          </a:xfrm>
          <a:prstGeom prst="rect">
            <a:avLst/>
          </a:prstGeom>
          <a:solidFill>
            <a:srgbClr val="4299E1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99E1"/>
                </a:solidFill>
              </a:defRPr>
            </a:pPr>
            <a:r>
              <a:t>1. Engajamento é a Alavanca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IEG correlaciona com INDE (0.800) - investimento em engajamento gera retorno multiplicado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37160" cy="731520"/>
          </a:xfrm>
          <a:prstGeom prst="rect">
            <a:avLst/>
          </a:prstGeom>
          <a:solidFill>
            <a:srgbClr val="ED8936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D8936"/>
                </a:solidFill>
              </a:defRPr>
            </a:pPr>
            <a:r>
              <a:t>2. Defasagem é Progressiva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49% → 30% adequados em 3 anos - ação urgente necessária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37160" cy="73152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3E3E"/>
                </a:solidFill>
              </a:defRPr>
            </a:pPr>
            <a:r>
              <a:t>3. Ensino Médio em 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IDA cai 32% da Fase 0 para Fase 7 - requer programa específico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137160" cy="731520"/>
          </a:xfrm>
          <a:prstGeom prst="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A169"/>
                </a:solidFill>
              </a:defRPr>
            </a:pPr>
            <a:r>
              <a:t>4. Histórico Prediz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IAN anterior é 2º preditor (11.8%) - acompanhamento longitudinal é crítico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137160" cy="73152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t>5. Transformação é Possível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42% dos alunos em risco podem melhorar - intervenção precoce funciona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90 Dias - Ações Imediatas de Alto Impacto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Sistema de Alerta Precoce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299E1"/>
                </a:solidFill>
              </a:defRPr>
            </a:pPr>
            <a:r>
              <a:t>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Implementar modelo preditivo em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Engajamento Intensivo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299E1"/>
                </a:solidFill>
              </a:defRPr>
            </a:pPr>
            <a:r>
              <a:t>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Aumentar frequência de tarefas e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Reforço Acadêmico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299E1"/>
                </a:solidFill>
              </a:defRPr>
            </a:pPr>
            <a:r>
              <a:t>Semana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Tutoria para alunos em risco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Autoconsciência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299E1"/>
                </a:solidFill>
              </a:defRPr>
            </a:pPr>
            <a:r>
              <a:t>Semana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Sessões de feedback com alunos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Transição de Fase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299E1"/>
                </a:solidFill>
              </a:defRPr>
            </a:pPr>
            <a:r>
              <a:t>Contínuo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Programa específico para entrada no 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Análise de ROI - 12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645920" cy="2286000"/>
          </a:xfrm>
          <a:prstGeom prst="rect">
            <a:avLst/>
          </a:prstGeom>
          <a:solidFill>
            <a:srgbClr val="ED8936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R$ 150k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Investimento</a:t>
            </a:r>
            <a:br/>
            <a:r>
              <a:t>Ano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828800"/>
            <a:ext cx="1645920" cy="2286000"/>
          </a:xfrm>
          <a:prstGeom prst="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R$ 300k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Retorno</a:t>
            </a:r>
            <a:br/>
            <a:r>
              <a:t>Direto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1645920" cy="228600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200%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1645920" cy="2286000"/>
          </a:xfrm>
          <a:prstGeom prst="rect">
            <a:avLst/>
          </a:prstGeom>
          <a:solidFill>
            <a:srgbClr val="4299E1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60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Alunos</a:t>
            </a:r>
            <a:br/>
            <a:r>
              <a:t>Retidos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D3748"/>
                </a:solidFill>
              </a:defRPr>
            </a:pPr>
            <a:r>
              <a:t>✓ % Alunos Adequados: 30% → 50% (+20 pp)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D3748"/>
                </a:solidFill>
              </a:defRPr>
            </a:pPr>
            <a:r>
              <a:t>✓ IDA Médio: 6.07 → 7.00 (+15%)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D3748"/>
                </a:solidFill>
              </a:defRPr>
            </a:pPr>
            <a:r>
              <a:t>✓ IEG Médio: 5.89 → 7.36 (+25%)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D3748"/>
                </a:solidFill>
              </a:defRPr>
            </a:pPr>
            <a:r>
              <a:t>✓ Taxa de Detecção Precoce: 0% → 90%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Transformando Dados em Oportunidades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  <a:r>
              <a:t>Temos os dados.</a:t>
            </a:r>
          </a:p>
          <a:p>
            <a:pPr algn="ctr"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  <a:r>
              <a:t>Temos o modelo.</a:t>
            </a:r>
          </a:p>
          <a:p>
            <a:pPr algn="ctr"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  <a:r>
              <a:t>Temos a evidência.</a:t>
            </a:r>
          </a:p>
          <a:p>
            <a:pPr algn="ctr"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  <a:r>
              <a:t>Agora precisamos agir.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Reunião de alinhamento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299E1"/>
                </a:solidFill>
              </a:defRPr>
            </a:pPr>
            <a:r>
              <a:t>Esta semana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Preparação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299E1"/>
                </a:solidFill>
              </a:defRPr>
            </a:pPr>
            <a:r>
              <a:t>Próxima semana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Treinamento de equipe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299E1"/>
                </a:solidFill>
              </a:defRPr>
            </a:pPr>
            <a:r>
              <a:t>Semana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solidFill>
            <a:srgbClr val="E53E3E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Go-live do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299E1"/>
                </a:solidFill>
              </a:defRPr>
            </a:pPr>
            <a:r>
              <a:t>Semana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