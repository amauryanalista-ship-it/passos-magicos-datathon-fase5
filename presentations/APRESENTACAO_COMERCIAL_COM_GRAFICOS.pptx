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3E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DATATHON PASSOS MÁGICOS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Análise Completa de Dados Educacionais</a:t>
            </a:r>
          </a:p>
          <a:p>
            <a:r>
              <a:t>3.030 Alunos | 2022-2024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53E3E"/>
                </a:solidFill>
              </a:defRPr>
            </a:pPr>
            <a:r>
              <a:t>Contexto e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Organização: ONG Passos Mágicos - Embu Guaçu, SP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Alunos Analisados: 3.030 registros únicos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Período: 2022, 2023, 2024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Indicadores: 8 principais + 5 derivados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Objetivo: Identificar alunos em risco de defasagem e recomendar intervenções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Resultado: Modelo com 84% de acurácia e 96% de sensibilidade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53E3E"/>
                </a:solidFill>
              </a:defRPr>
            </a:pPr>
            <a:r>
              <a:t>Pergunta 1: Qual é o perfil geral de defasagem dos alunos?</a:t>
            </a:r>
          </a:p>
        </p:txBody>
      </p:sp>
      <p:pic>
        <p:nvPicPr>
          <p:cNvPr id="3" name="Picture 2" descr="01_evolucao_defasag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071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53E3E"/>
                </a:solidFill>
              </a:defRPr>
            </a:pPr>
            <a:r>
              <a:t>Pergunta 2: O desempenho médio está melhorando, estagnado ou caindo?</a:t>
            </a:r>
          </a:p>
        </p:txBody>
      </p:sp>
      <p:pic>
        <p:nvPicPr>
          <p:cNvPr id="3" name="Picture 2" descr="02_desempenho_academ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0744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53E3E"/>
                </a:solidFill>
              </a:defRPr>
            </a:pPr>
            <a:r>
              <a:t>Perguntas 3-8: Correlações e Relacionamentos</a:t>
            </a:r>
          </a:p>
        </p:txBody>
      </p:sp>
      <p:pic>
        <p:nvPicPr>
          <p:cNvPr id="3" name="Picture 2" descr="03_correlac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65664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53E3E"/>
                </a:solidFill>
              </a:defRPr>
            </a:pPr>
            <a:r>
              <a:t>Pergunta 9: Quais padrões permitem identificar alunos em risco?</a:t>
            </a:r>
          </a:p>
        </p:txBody>
      </p:sp>
      <p:pic>
        <p:nvPicPr>
          <p:cNvPr id="3" name="Picture 2" descr="04_performance_mode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0721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53E3E"/>
                </a:solidFill>
              </a:defRPr>
            </a:pPr>
            <a:r>
              <a:t>Importância das Features no Modelo</a:t>
            </a:r>
          </a:p>
        </p:txBody>
      </p:sp>
      <p:pic>
        <p:nvPicPr>
          <p:cNvPr id="3" name="Picture 2" descr="05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7698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53E3E"/>
                </a:solidFill>
              </a:defRPr>
            </a:pPr>
            <a:r>
              <a:t>Pergunta 11: Distribuição de Risco de Defasagem</a:t>
            </a:r>
          </a:p>
        </p:txBody>
      </p:sp>
      <p:pic>
        <p:nvPicPr>
          <p:cNvPr id="3" name="Picture 2" descr="06_distribuicao_ris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400800" cy="55400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53E3E"/>
                </a:solidFill>
              </a:defRPr>
            </a:pPr>
            <a:r>
              <a:t>Pergunta 8: Relação entre Desempenho, Engajamento e Desenvolvimento</a:t>
            </a:r>
          </a:p>
        </p:txBody>
      </p:sp>
      <p:pic>
        <p:nvPicPr>
          <p:cNvPr id="3" name="Picture 2" descr="07_ida_ieg_i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4700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53E3E"/>
                </a:solidFill>
              </a:defRPr>
            </a:pPr>
            <a:r>
              <a:t>Pergunta 10: Evolução de Todos os Indicadores (2022-2024)</a:t>
            </a:r>
          </a:p>
        </p:txBody>
      </p:sp>
      <p:pic>
        <p:nvPicPr>
          <p:cNvPr id="3" name="Picture 2" descr="08_evolucao_indicad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0744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53E3E"/>
                </a:solidFill>
              </a:defRPr>
            </a:pPr>
            <a:r>
              <a:t>5 Insights Principais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1. Defasagem em Redução: 49% → 30% adequados em 3 anos</a:t>
            </a:r>
          </a:p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2. Engajamento é Crítico: Correlação forte com INDE (0.385)</a:t>
            </a:r>
          </a:p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3. Desalinhamento Percepção: 81.1% superestimam desempenho</a:t>
            </a:r>
          </a:p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4. Modelo Efetivo: 84% acurácia, 96% sensibilidade</a:t>
            </a:r>
          </a:p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5. Multidimensionalidade: INDE captura bem o desenvolvimento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3E3E"/>
                </a:solidFill>
              </a:defRPr>
            </a:pPr>
            <a:r>
              <a:t>Recomendações Curto Prazo (90 dias)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1. Implementar sistema de alerta precoce baseado no modelo</a:t>
            </a:r>
          </a:p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2. Programa de engajamento intensivo</a:t>
            </a:r>
          </a:p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3. Reforço acadêmico focalizado</a:t>
            </a:r>
          </a:p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4. Trabalho em autoconsciência (IAA vs IDA)</a:t>
            </a:r>
          </a:p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5. Transição de fase reforçada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3E3E"/>
                </a:solidFill>
              </a:defRPr>
            </a:pPr>
            <a:r>
              <a:t>Recomendações Médio Prazo (6-12 meses)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1. Desenvolvimento de habilidades cognitivas</a:t>
            </a:r>
          </a:p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2. Integração psicossocial</a:t>
            </a:r>
          </a:p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3. Modelo de acompanhamento longitudinal</a:t>
            </a:r>
          </a:p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4. Personalização de intervenções</a:t>
            </a:r>
          </a:p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5. Capacitação de equipe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3E3E"/>
                </a:solidFill>
              </a:defRPr>
            </a:pPr>
            <a:r>
              <a:t>Recomendações Longo Prazo (2025+)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1. Plataforma de dados integrada</a:t>
            </a:r>
          </a:p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2. Modelo preditivo avançado</a:t>
            </a:r>
          </a:p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3. Programa de mentoria estruturado</a:t>
            </a:r>
          </a:p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4. Pesquisa de impacto</a:t>
            </a:r>
          </a:p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5. Escala e replicação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3E3E"/>
                </a:solidFill>
              </a:defRPr>
            </a:pPr>
            <a:r>
              <a:t>Análise de Retorno sobre Investimento (ROI)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>
                <a:solidFill>
                  <a:srgbClr val="2D3748"/>
                </a:solidFill>
              </a:defRPr>
            </a:pPr>
            <a:r>
              <a:t>Redução de Defasagem: 20% em 12 meses = 600 alunos beneficiados</a:t>
            </a:r>
          </a:p>
          <a:p>
            <a:pPr>
              <a:spcBef>
                <a:spcPts val="1000"/>
              </a:spcBef>
              <a:defRPr sz="1600">
                <a:solidFill>
                  <a:srgbClr val="2D3748"/>
                </a:solidFill>
              </a:defRPr>
            </a:pPr>
            <a:r>
              <a:t>Aumento de Desempenho: 15% em IDA = Melhoria acadêmica mensurável</a:t>
            </a:r>
          </a:p>
          <a:p>
            <a:pPr>
              <a:spcBef>
                <a:spcPts val="1000"/>
              </a:spcBef>
              <a:defRPr sz="1600">
                <a:solidFill>
                  <a:srgbClr val="2D3748"/>
                </a:solidFill>
              </a:defRPr>
            </a:pPr>
            <a:r>
              <a:t>Melhoria de Engajamento: 25% em IEG = Maior participação</a:t>
            </a:r>
          </a:p>
          <a:p>
            <a:pPr>
              <a:spcBef>
                <a:spcPts val="1000"/>
              </a:spcBef>
              <a:defRPr sz="1600">
                <a:solidFill>
                  <a:srgbClr val="2D3748"/>
                </a:solidFill>
              </a:defRPr>
            </a:pPr>
            <a:r>
              <a:t>Economia de Recursos: Intervenções focalizadas = 30% economia</a:t>
            </a:r>
          </a:p>
          <a:p>
            <a:pPr>
              <a:spcBef>
                <a:spcPts val="1000"/>
              </a:spcBef>
              <a:defRPr sz="1600">
                <a:solidFill>
                  <a:srgbClr val="2D3748"/>
                </a:solidFill>
              </a:defRPr>
            </a:pPr>
            <a:r>
              <a:t>ROI Estimado: 200% em 12 meses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53E3E"/>
                </a:solidFill>
              </a:defRPr>
            </a:pPr>
            <a: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1. Validar achados com stakeholders pedagógicos</a:t>
            </a:r>
          </a:p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2. Implementar alertas automáticos para alunos em risco</a:t>
            </a:r>
          </a:p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3. Integrar modelo ao sistema de gestão existente</a:t>
            </a:r>
          </a:p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4. Testar com 20 alunos de alto risco (piloto)</a:t>
            </a:r>
          </a:p>
          <a:p>
            <a:pPr>
              <a:spcBef>
                <a:spcPts val="1200"/>
              </a:spcBef>
              <a:defRPr sz="1800">
                <a:solidFill>
                  <a:srgbClr val="2D3748"/>
                </a:solidFill>
              </a:defRPr>
            </a:pPr>
            <a:r>
              <a:t>5. Medir impacto e ajustar estratégia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3E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Transformando Dados em Oportunidades Educacionais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Pronto para implementação</a:t>
            </a:r>
          </a:p>
          <a:p>
            <a:r>
              <a:t>3.030 alunos | 84% acurácia | 96% sensibilidade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